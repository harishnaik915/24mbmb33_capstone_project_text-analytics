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Lovelace" panose="020B0604020202020204" charset="0"/>
      <p:regular r:id="rId9"/>
    </p:embeddedFont>
    <p:embeddedFont>
      <p:font typeface="Lovelace Italics" panose="020B0604020202020204" charset="0"/>
      <p:regular r:id="rId10"/>
    </p:embeddedFont>
    <p:embeddedFont>
      <p:font typeface="TT Hoves" panose="020B0604020202020204" charset="0"/>
      <p:regular r:id="rId11"/>
    </p:embeddedFont>
    <p:embeddedFont>
      <p:font typeface="TT Hoves Bol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898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ish Nayak" userId="51718c11538f3356" providerId="LiveId" clId="{BFEBAE20-AC50-470A-AD34-ACB091563DA3}"/>
    <pc:docChg chg="modSld">
      <pc:chgData name="Harish Nayak" userId="51718c11538f3356" providerId="LiveId" clId="{BFEBAE20-AC50-470A-AD34-ACB091563DA3}" dt="2025-11-13T20:09:32.575" v="9" actId="20577"/>
      <pc:docMkLst>
        <pc:docMk/>
      </pc:docMkLst>
      <pc:sldChg chg="modSp mod">
        <pc:chgData name="Harish Nayak" userId="51718c11538f3356" providerId="LiveId" clId="{BFEBAE20-AC50-470A-AD34-ACB091563DA3}" dt="2025-11-13T20:09:32.575" v="9" actId="20577"/>
        <pc:sldMkLst>
          <pc:docMk/>
          <pc:sldMk cId="0" sldId="256"/>
        </pc:sldMkLst>
        <pc:spChg chg="mod">
          <ac:chgData name="Harish Nayak" userId="51718c11538f3356" providerId="LiveId" clId="{BFEBAE20-AC50-470A-AD34-ACB091563DA3}" dt="2025-11-13T20:09:32.575" v="9" actId="20577"/>
          <ac:spMkLst>
            <pc:docMk/>
            <pc:sldMk cId="0" sldId="256"/>
            <ac:spMk id="7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0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svg"/><Relationship Id="rId3" Type="http://schemas.openxmlformats.org/officeDocument/2006/relationships/image" Target="../media/image12.svg"/><Relationship Id="rId7" Type="http://schemas.openxmlformats.org/officeDocument/2006/relationships/image" Target="../media/image14.svg"/><Relationship Id="rId12" Type="http://schemas.openxmlformats.org/officeDocument/2006/relationships/image" Target="../media/image1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8.svg"/><Relationship Id="rId5" Type="http://schemas.openxmlformats.org/officeDocument/2006/relationships/image" Target="../media/image6.svg"/><Relationship Id="rId10" Type="http://schemas.openxmlformats.org/officeDocument/2006/relationships/image" Target="../media/image17.png"/><Relationship Id="rId4" Type="http://schemas.openxmlformats.org/officeDocument/2006/relationships/image" Target="../media/image5.png"/><Relationship Id="rId9" Type="http://schemas.openxmlformats.org/officeDocument/2006/relationships/image" Target="../media/image1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.svg"/><Relationship Id="rId7" Type="http://schemas.openxmlformats.org/officeDocument/2006/relationships/image" Target="../media/image2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2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78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140556" y="7889271"/>
            <a:ext cx="8338513" cy="8338513"/>
          </a:xfrm>
          <a:custGeom>
            <a:avLst/>
            <a:gdLst/>
            <a:ahLst/>
            <a:cxnLst/>
            <a:rect l="l" t="t" r="r" b="b"/>
            <a:pathLst>
              <a:path w="8338513" h="8338513">
                <a:moveTo>
                  <a:pt x="0" y="0"/>
                </a:moveTo>
                <a:lnTo>
                  <a:pt x="8338512" y="0"/>
                </a:lnTo>
                <a:lnTo>
                  <a:pt x="8338512" y="8338512"/>
                </a:lnTo>
                <a:lnTo>
                  <a:pt x="0" y="83385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090770" y="-5871599"/>
            <a:ext cx="8338513" cy="8338513"/>
          </a:xfrm>
          <a:custGeom>
            <a:avLst/>
            <a:gdLst/>
            <a:ahLst/>
            <a:cxnLst/>
            <a:rect l="l" t="t" r="r" b="b"/>
            <a:pathLst>
              <a:path w="8338513" h="8338513">
                <a:moveTo>
                  <a:pt x="0" y="0"/>
                </a:moveTo>
                <a:lnTo>
                  <a:pt x="8338513" y="0"/>
                </a:lnTo>
                <a:lnTo>
                  <a:pt x="8338513" y="8338512"/>
                </a:lnTo>
                <a:lnTo>
                  <a:pt x="0" y="83385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79398" y="1028700"/>
            <a:ext cx="5277354" cy="352918"/>
          </a:xfrm>
          <a:custGeom>
            <a:avLst/>
            <a:gdLst/>
            <a:ahLst/>
            <a:cxnLst/>
            <a:rect l="l" t="t" r="r" b="b"/>
            <a:pathLst>
              <a:path w="5277354" h="352918">
                <a:moveTo>
                  <a:pt x="0" y="0"/>
                </a:moveTo>
                <a:lnTo>
                  <a:pt x="5277354" y="0"/>
                </a:lnTo>
                <a:lnTo>
                  <a:pt x="5277354" y="352918"/>
                </a:lnTo>
                <a:lnTo>
                  <a:pt x="0" y="3529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3010646" y="8905382"/>
            <a:ext cx="5277354" cy="352918"/>
          </a:xfrm>
          <a:custGeom>
            <a:avLst/>
            <a:gdLst/>
            <a:ahLst/>
            <a:cxnLst/>
            <a:rect l="l" t="t" r="r" b="b"/>
            <a:pathLst>
              <a:path w="5277354" h="352918">
                <a:moveTo>
                  <a:pt x="5277354" y="0"/>
                </a:moveTo>
                <a:lnTo>
                  <a:pt x="0" y="0"/>
                </a:lnTo>
                <a:lnTo>
                  <a:pt x="0" y="352918"/>
                </a:lnTo>
                <a:lnTo>
                  <a:pt x="5277354" y="352918"/>
                </a:lnTo>
                <a:lnTo>
                  <a:pt x="527735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-844643" y="1191118"/>
            <a:ext cx="18443661" cy="3479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 b="1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CAPSTONE PROJECT</a:t>
            </a:r>
          </a:p>
          <a:p>
            <a:pPr algn="ctr">
              <a:lnSpc>
                <a:spcPts val="13999"/>
              </a:lnSpc>
              <a:spcBef>
                <a:spcPct val="0"/>
              </a:spcBef>
            </a:pPr>
            <a:endParaRPr lang="en-US" sz="9999" b="1">
              <a:solidFill>
                <a:srgbClr val="000000"/>
              </a:solidFill>
              <a:latin typeface="TT Hoves Bold"/>
              <a:ea typeface="TT Hoves Bold"/>
              <a:cs typeface="TT Hoves Bold"/>
              <a:sym typeface="TT Hoves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2957760" y="3588244"/>
            <a:ext cx="11718488" cy="2101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PLAYER BEHAVIOUR ANALYSIS IN VIDEO GAME 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USING TEXT ANALYTICS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  <a:endParaRPr lang="en-US" sz="3999" b="1" dirty="0">
              <a:solidFill>
                <a:srgbClr val="000000"/>
              </a:solidFill>
              <a:latin typeface="TT Hoves Bold"/>
              <a:ea typeface="TT Hoves Bold"/>
              <a:cs typeface="TT Hoves Bold"/>
              <a:sym typeface="TT Hoves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800788" y="7209821"/>
            <a:ext cx="5270064" cy="208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D HARISH NAIK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ROLL NO: 24MBMB33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  <a:endParaRPr lang="en-US" sz="3999" b="1">
              <a:solidFill>
                <a:srgbClr val="000000"/>
              </a:solidFill>
              <a:latin typeface="TT Hoves Bold"/>
              <a:ea typeface="TT Hoves Bold"/>
              <a:cs typeface="TT Hoves Bold"/>
              <a:sym typeface="TT Hoves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78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579992" y="-4676540"/>
            <a:ext cx="8338513" cy="8338513"/>
          </a:xfrm>
          <a:custGeom>
            <a:avLst/>
            <a:gdLst/>
            <a:ahLst/>
            <a:cxnLst/>
            <a:rect l="l" t="t" r="r" b="b"/>
            <a:pathLst>
              <a:path w="8338513" h="8338513">
                <a:moveTo>
                  <a:pt x="0" y="0"/>
                </a:moveTo>
                <a:lnTo>
                  <a:pt x="8338513" y="0"/>
                </a:lnTo>
                <a:lnTo>
                  <a:pt x="8338513" y="8338513"/>
                </a:lnTo>
                <a:lnTo>
                  <a:pt x="0" y="83385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945725" y="1028700"/>
            <a:ext cx="681973" cy="681973"/>
          </a:xfrm>
          <a:custGeom>
            <a:avLst/>
            <a:gdLst/>
            <a:ahLst/>
            <a:cxnLst/>
            <a:rect l="l" t="t" r="r" b="b"/>
            <a:pathLst>
              <a:path w="681973" h="681973">
                <a:moveTo>
                  <a:pt x="0" y="0"/>
                </a:moveTo>
                <a:lnTo>
                  <a:pt x="681973" y="0"/>
                </a:lnTo>
                <a:lnTo>
                  <a:pt x="681973" y="681973"/>
                </a:lnTo>
                <a:lnTo>
                  <a:pt x="0" y="6819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949929"/>
            <a:ext cx="14669746" cy="687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7"/>
              </a:lnSpc>
            </a:pPr>
            <a:r>
              <a:rPr lang="en-US" sz="4055" b="1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USE CASE 1: HARMFUL EMOTIONAL PATTERN DETECTION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2009775"/>
            <a:ext cx="14917025" cy="679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3000" b="1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•THIS USE CASE IDENTIFIES EMOTIONALLY INTENSE OR HARMFUL CHAT MESSAGES SUCH AS ANGER, FRUSTRATION, OR STRESS.</a:t>
            </a:r>
          </a:p>
          <a:p>
            <a:pPr algn="l">
              <a:lnSpc>
                <a:spcPts val="6000"/>
              </a:lnSpc>
            </a:pPr>
            <a:r>
              <a:rPr lang="en-US" sz="3000" b="1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•THE GOAL IS TO DETECT WHEN PLAYERS SHOW SIGNS OF EMOTIONAL INSTABILITY WHILE PLAYING.</a:t>
            </a:r>
          </a:p>
          <a:p>
            <a:pPr algn="l">
              <a:lnSpc>
                <a:spcPts val="6000"/>
              </a:lnSpc>
            </a:pPr>
            <a:r>
              <a:rPr lang="en-US" sz="3000" b="1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•BY FLAGGING HARMFUL MESSAGES, THE SYSTEM CAN PROVIDE BREAK REMINDERS OR PREVENT TOXIC INTERACTIONS.</a:t>
            </a:r>
          </a:p>
          <a:p>
            <a:pPr algn="l">
              <a:lnSpc>
                <a:spcPts val="6000"/>
              </a:lnSpc>
            </a:pPr>
            <a:r>
              <a:rPr lang="en-US" sz="3000" b="1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•THIS HELPS MAINTAIN A HEALTHIER GAMING ENVIRONMENT AND REDUCES EMOTIONAL BURNOUT.</a:t>
            </a:r>
          </a:p>
          <a:p>
            <a:pPr algn="l">
              <a:lnSpc>
                <a:spcPts val="6000"/>
              </a:lnSpc>
            </a:pPr>
            <a:endParaRPr lang="en-US" sz="3000" b="1">
              <a:solidFill>
                <a:srgbClr val="FFFFFF"/>
              </a:solidFill>
              <a:latin typeface="TT Hoves Bold"/>
              <a:ea typeface="TT Hoves Bold"/>
              <a:cs typeface="TT Hoves Bold"/>
              <a:sym typeface="TT Hoves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78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118744" y="-3140556"/>
            <a:ext cx="8338513" cy="8338513"/>
          </a:xfrm>
          <a:custGeom>
            <a:avLst/>
            <a:gdLst/>
            <a:ahLst/>
            <a:cxnLst/>
            <a:rect l="l" t="t" r="r" b="b"/>
            <a:pathLst>
              <a:path w="8338513" h="8338513">
                <a:moveTo>
                  <a:pt x="0" y="0"/>
                </a:moveTo>
                <a:lnTo>
                  <a:pt x="8338512" y="0"/>
                </a:lnTo>
                <a:lnTo>
                  <a:pt x="8338512" y="8338512"/>
                </a:lnTo>
                <a:lnTo>
                  <a:pt x="0" y="83385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3958622" y="8005163"/>
            <a:ext cx="8338513" cy="8338513"/>
          </a:xfrm>
          <a:custGeom>
            <a:avLst/>
            <a:gdLst/>
            <a:ahLst/>
            <a:cxnLst/>
            <a:rect l="l" t="t" r="r" b="b"/>
            <a:pathLst>
              <a:path w="8338513" h="8338513">
                <a:moveTo>
                  <a:pt x="0" y="0"/>
                </a:moveTo>
                <a:lnTo>
                  <a:pt x="8338512" y="0"/>
                </a:lnTo>
                <a:lnTo>
                  <a:pt x="8338512" y="8338512"/>
                </a:lnTo>
                <a:lnTo>
                  <a:pt x="0" y="83385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076539" y="1295304"/>
            <a:ext cx="1139859" cy="1069395"/>
          </a:xfrm>
          <a:custGeom>
            <a:avLst/>
            <a:gdLst/>
            <a:ahLst/>
            <a:cxnLst/>
            <a:rect l="l" t="t" r="r" b="b"/>
            <a:pathLst>
              <a:path w="1139859" h="1069395">
                <a:moveTo>
                  <a:pt x="0" y="0"/>
                </a:moveTo>
                <a:lnTo>
                  <a:pt x="1139859" y="0"/>
                </a:lnTo>
                <a:lnTo>
                  <a:pt x="1139859" y="1069395"/>
                </a:lnTo>
                <a:lnTo>
                  <a:pt x="0" y="10693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52181" y="8837692"/>
            <a:ext cx="1364803" cy="1253137"/>
          </a:xfrm>
          <a:custGeom>
            <a:avLst/>
            <a:gdLst/>
            <a:ahLst/>
            <a:cxnLst/>
            <a:rect l="l" t="t" r="r" b="b"/>
            <a:pathLst>
              <a:path w="1364803" h="1253137">
                <a:moveTo>
                  <a:pt x="0" y="0"/>
                </a:moveTo>
                <a:lnTo>
                  <a:pt x="1364803" y="0"/>
                </a:lnTo>
                <a:lnTo>
                  <a:pt x="1364803" y="1253137"/>
                </a:lnTo>
                <a:lnTo>
                  <a:pt x="0" y="12531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820568" y="952500"/>
            <a:ext cx="13814711" cy="1384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>
                <a:solidFill>
                  <a:srgbClr val="FBF9F5"/>
                </a:solidFill>
                <a:latin typeface="TT Hoves Bold"/>
                <a:ea typeface="TT Hoves Bold"/>
                <a:cs typeface="TT Hoves Bold"/>
                <a:sym typeface="TT Hoves Bold"/>
              </a:rPr>
              <a:t>USE CASE 2: DETECTING COMPULSIVE PLAY DRIVERS (TOPIC MODELING)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20568" y="2509238"/>
            <a:ext cx="13153734" cy="679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000"/>
              </a:lnSpc>
            </a:pPr>
            <a:r>
              <a:rPr lang="en-US" sz="3000">
                <a:solidFill>
                  <a:srgbClr val="FBF9F5"/>
                </a:solidFill>
                <a:latin typeface="TT Hoves"/>
                <a:ea typeface="TT Hoves"/>
                <a:cs typeface="TT Hoves"/>
                <a:sym typeface="TT Hoves"/>
              </a:rPr>
              <a:t> •THIS USE CASE UNCOVERS HIDDEN THEMES THAT CAUSE PLAYERS TO ENGAGE IN COMPULSIVE GAMING.</a:t>
            </a:r>
          </a:p>
          <a:p>
            <a:pPr algn="just">
              <a:lnSpc>
                <a:spcPts val="6000"/>
              </a:lnSpc>
            </a:pPr>
            <a:r>
              <a:rPr lang="en-US" sz="3000">
                <a:solidFill>
                  <a:srgbClr val="FBF9F5"/>
                </a:solidFill>
                <a:latin typeface="TT Hoves"/>
                <a:ea typeface="TT Hoves"/>
                <a:cs typeface="TT Hoves"/>
                <a:sym typeface="TT Hoves"/>
              </a:rPr>
              <a:t>•USING TOPIC MODELING, THE SYSTEM IDENTIFIES PATTERNS LIKE GRINDING, FOMO, SEASON PASS PRESSURE, OR CLAN EXPECTATIONS.</a:t>
            </a:r>
          </a:p>
          <a:p>
            <a:pPr algn="just">
              <a:lnSpc>
                <a:spcPts val="6000"/>
              </a:lnSpc>
            </a:pPr>
            <a:r>
              <a:rPr lang="en-US" sz="3000">
                <a:solidFill>
                  <a:srgbClr val="FBF9F5"/>
                </a:solidFill>
                <a:latin typeface="TT Hoves"/>
                <a:ea typeface="TT Hoves"/>
                <a:cs typeface="TT Hoves"/>
                <a:sym typeface="TT Hoves"/>
              </a:rPr>
              <a:t>•THESE INSIGHTS HELP UNDERSTAND WHAT GAME MECHANICS OR SOCIAL BEHAVIORS PUSH PLAYERS TO OVERPLAY.</a:t>
            </a:r>
          </a:p>
          <a:p>
            <a:pPr algn="just">
              <a:lnSpc>
                <a:spcPts val="6000"/>
              </a:lnSpc>
            </a:pPr>
            <a:r>
              <a:rPr lang="en-US" sz="3000">
                <a:solidFill>
                  <a:srgbClr val="FBF9F5"/>
                </a:solidFill>
                <a:latin typeface="TT Hoves"/>
                <a:ea typeface="TT Hoves"/>
                <a:cs typeface="TT Hoves"/>
                <a:sym typeface="TT Hoves"/>
              </a:rPr>
              <a:t>•THE COMPANY CAN USE THIS TO REDESIGN FEATURES TO REDUCE PRESSURE-BASED ADDICTION.</a:t>
            </a:r>
          </a:p>
          <a:p>
            <a:pPr algn="just">
              <a:lnSpc>
                <a:spcPts val="6000"/>
              </a:lnSpc>
            </a:pPr>
            <a:endParaRPr lang="en-US" sz="3000">
              <a:solidFill>
                <a:srgbClr val="FBF9F5"/>
              </a:solidFill>
              <a:latin typeface="TT Hoves"/>
              <a:ea typeface="TT Hoves"/>
              <a:cs typeface="TT Hoves"/>
              <a:sym typeface="TT Hove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78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471168">
            <a:off x="-2904531" y="-1202549"/>
            <a:ext cx="22588102" cy="11786882"/>
          </a:xfrm>
          <a:custGeom>
            <a:avLst/>
            <a:gdLst/>
            <a:ahLst/>
            <a:cxnLst/>
            <a:rect l="l" t="t" r="r" b="b"/>
            <a:pathLst>
              <a:path w="22588102" h="11786882">
                <a:moveTo>
                  <a:pt x="0" y="0"/>
                </a:moveTo>
                <a:lnTo>
                  <a:pt x="22588103" y="0"/>
                </a:lnTo>
                <a:lnTo>
                  <a:pt x="22588103" y="11786882"/>
                </a:lnTo>
                <a:lnTo>
                  <a:pt x="0" y="117868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46727" y="9605027"/>
            <a:ext cx="681973" cy="681973"/>
          </a:xfrm>
          <a:custGeom>
            <a:avLst/>
            <a:gdLst/>
            <a:ahLst/>
            <a:cxnLst/>
            <a:rect l="l" t="t" r="r" b="b"/>
            <a:pathLst>
              <a:path w="681973" h="681973">
                <a:moveTo>
                  <a:pt x="0" y="0"/>
                </a:moveTo>
                <a:lnTo>
                  <a:pt x="681973" y="0"/>
                </a:lnTo>
                <a:lnTo>
                  <a:pt x="681973" y="681973"/>
                </a:lnTo>
                <a:lnTo>
                  <a:pt x="0" y="6819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144000" y="3772513"/>
            <a:ext cx="663356" cy="657325"/>
          </a:xfrm>
          <a:custGeom>
            <a:avLst/>
            <a:gdLst/>
            <a:ahLst/>
            <a:cxnLst/>
            <a:rect l="l" t="t" r="r" b="b"/>
            <a:pathLst>
              <a:path w="663356" h="657325">
                <a:moveTo>
                  <a:pt x="0" y="0"/>
                </a:moveTo>
                <a:lnTo>
                  <a:pt x="663356" y="0"/>
                </a:lnTo>
                <a:lnTo>
                  <a:pt x="663356" y="657325"/>
                </a:lnTo>
                <a:lnTo>
                  <a:pt x="0" y="6573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144000" y="6517485"/>
            <a:ext cx="663356" cy="674391"/>
          </a:xfrm>
          <a:custGeom>
            <a:avLst/>
            <a:gdLst/>
            <a:ahLst/>
            <a:cxnLst/>
            <a:rect l="l" t="t" r="r" b="b"/>
            <a:pathLst>
              <a:path w="663356" h="674391">
                <a:moveTo>
                  <a:pt x="0" y="0"/>
                </a:moveTo>
                <a:lnTo>
                  <a:pt x="663356" y="0"/>
                </a:lnTo>
                <a:lnTo>
                  <a:pt x="663356" y="674391"/>
                </a:lnTo>
                <a:lnTo>
                  <a:pt x="0" y="67439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059193" y="9258300"/>
            <a:ext cx="1200107" cy="1200107"/>
          </a:xfrm>
          <a:custGeom>
            <a:avLst/>
            <a:gdLst/>
            <a:ahLst/>
            <a:cxnLst/>
            <a:rect l="l" t="t" r="r" b="b"/>
            <a:pathLst>
              <a:path w="1200107" h="1200107">
                <a:moveTo>
                  <a:pt x="0" y="0"/>
                </a:moveTo>
                <a:lnTo>
                  <a:pt x="1200107" y="0"/>
                </a:lnTo>
                <a:lnTo>
                  <a:pt x="1200107" y="1200107"/>
                </a:lnTo>
                <a:lnTo>
                  <a:pt x="0" y="120010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624886" y="395618"/>
            <a:ext cx="1243142" cy="1266163"/>
          </a:xfrm>
          <a:custGeom>
            <a:avLst/>
            <a:gdLst/>
            <a:ahLst/>
            <a:cxnLst/>
            <a:rect l="l" t="t" r="r" b="b"/>
            <a:pathLst>
              <a:path w="1243142" h="1266163">
                <a:moveTo>
                  <a:pt x="0" y="0"/>
                </a:moveTo>
                <a:lnTo>
                  <a:pt x="1243142" y="0"/>
                </a:lnTo>
                <a:lnTo>
                  <a:pt x="1243142" y="1266164"/>
                </a:lnTo>
                <a:lnTo>
                  <a:pt x="0" y="126616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28700" y="949929"/>
            <a:ext cx="15630546" cy="1384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>
                <a:solidFill>
                  <a:srgbClr val="FBF9F5"/>
                </a:solidFill>
                <a:latin typeface="TT Hoves Bold"/>
                <a:ea typeface="TT Hoves Bold"/>
                <a:cs typeface="TT Hoves Bold"/>
                <a:sym typeface="TT Hoves Bold"/>
              </a:rPr>
              <a:t>USE CASE 3: EARLY ADDICTION DETECTION THROUGH LINGUISTIC MARKERS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2508902"/>
            <a:ext cx="15217757" cy="679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3000" b="1">
                <a:solidFill>
                  <a:srgbClr val="FBF9F5"/>
                </a:solidFill>
                <a:latin typeface="TT Hoves Bold"/>
                <a:ea typeface="TT Hoves Bold"/>
                <a:cs typeface="TT Hoves Bold"/>
                <a:sym typeface="TT Hoves Bold"/>
              </a:rPr>
              <a:t>•THIS USE CASE ANALYZES PLAYER MESSAGES FOR EARLY SIGNS OF ADDICTION-RELATED LANGUAGE.</a:t>
            </a:r>
          </a:p>
          <a:p>
            <a:pPr algn="l">
              <a:lnSpc>
                <a:spcPts val="6000"/>
              </a:lnSpc>
            </a:pPr>
            <a:r>
              <a:rPr lang="en-US" sz="3000" b="1">
                <a:solidFill>
                  <a:srgbClr val="FBF9F5"/>
                </a:solidFill>
                <a:latin typeface="TT Hoves Bold"/>
                <a:ea typeface="TT Hoves Bold"/>
                <a:cs typeface="TT Hoves Bold"/>
                <a:sym typeface="TT Hoves Bold"/>
              </a:rPr>
              <a:t>•PHRASES LIKE 'I CAN’T STOP', 'PLAYING ALL NIGHT', OR 'I SKIPPED SLEEP' INDICATE RISING ADDICTION RISK.</a:t>
            </a:r>
          </a:p>
          <a:p>
            <a:pPr algn="l">
              <a:lnSpc>
                <a:spcPts val="6000"/>
              </a:lnSpc>
            </a:pPr>
            <a:r>
              <a:rPr lang="en-US" sz="3000" b="1">
                <a:solidFill>
                  <a:srgbClr val="FBF9F5"/>
                </a:solidFill>
                <a:latin typeface="TT Hoves Bold"/>
                <a:ea typeface="TT Hoves Bold"/>
                <a:cs typeface="TT Hoves Bold"/>
                <a:sym typeface="TT Hoves Bold"/>
              </a:rPr>
              <a:t>•THE SYSTEM CLASSIFIES PLAYERS INTO LOW, MODERATE, OR HIGH ADDICTION RISK.</a:t>
            </a:r>
          </a:p>
          <a:p>
            <a:pPr algn="l">
              <a:lnSpc>
                <a:spcPts val="6000"/>
              </a:lnSpc>
            </a:pPr>
            <a:r>
              <a:rPr lang="en-US" sz="3000" b="1">
                <a:solidFill>
                  <a:srgbClr val="FBF9F5"/>
                </a:solidFill>
                <a:latin typeface="TT Hoves Bold"/>
                <a:ea typeface="TT Hoves Bold"/>
                <a:cs typeface="TT Hoves Bold"/>
                <a:sym typeface="TT Hoves Bold"/>
              </a:rPr>
              <a:t>•EARLY DETECTION ENABLES TIMELY INTERVENTION AND PROMOTES HEALTHIER PLAY HABITS.</a:t>
            </a:r>
          </a:p>
          <a:p>
            <a:pPr algn="l">
              <a:lnSpc>
                <a:spcPts val="6000"/>
              </a:lnSpc>
            </a:pPr>
            <a:endParaRPr lang="en-US" sz="3000" b="1">
              <a:solidFill>
                <a:srgbClr val="FBF9F5"/>
              </a:solidFill>
              <a:latin typeface="TT Hoves Bold"/>
              <a:ea typeface="TT Hoves Bold"/>
              <a:cs typeface="TT Hoves Bold"/>
              <a:sym typeface="TT Hoves 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78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166796" y="8755484"/>
            <a:ext cx="1954408" cy="1005632"/>
          </a:xfrm>
          <a:custGeom>
            <a:avLst/>
            <a:gdLst/>
            <a:ahLst/>
            <a:cxnLst/>
            <a:rect l="l" t="t" r="r" b="b"/>
            <a:pathLst>
              <a:path w="1954408" h="1005632">
                <a:moveTo>
                  <a:pt x="0" y="0"/>
                </a:moveTo>
                <a:lnTo>
                  <a:pt x="1954408" y="0"/>
                </a:lnTo>
                <a:lnTo>
                  <a:pt x="1954408" y="1005632"/>
                </a:lnTo>
                <a:lnTo>
                  <a:pt x="0" y="10056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0" y="9239250"/>
            <a:ext cx="7792669" cy="0"/>
          </a:xfrm>
          <a:prstGeom prst="line">
            <a:avLst/>
          </a:prstGeom>
          <a:ln w="19050" cap="flat">
            <a:solidFill>
              <a:srgbClr val="FBF9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10495331" y="9229725"/>
            <a:ext cx="7792669" cy="0"/>
          </a:xfrm>
          <a:prstGeom prst="line">
            <a:avLst/>
          </a:prstGeom>
          <a:ln w="19050" cap="flat">
            <a:solidFill>
              <a:srgbClr val="FBF9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1028700" y="949929"/>
            <a:ext cx="16230600" cy="1384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>
                <a:solidFill>
                  <a:srgbClr val="FBF9F5"/>
                </a:solidFill>
                <a:latin typeface="TT Hoves Bold"/>
                <a:ea typeface="TT Hoves Bold"/>
                <a:cs typeface="TT Hoves Bold"/>
                <a:sym typeface="TT Hoves Bold"/>
              </a:rPr>
              <a:t>USE CASE 4: HARMFUL SOCIAL PRESSURE IN MULTIPLAYER CHATS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2714625"/>
            <a:ext cx="16145635" cy="4791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FBF9F5"/>
                </a:solidFill>
                <a:latin typeface="TT Hoves Bold"/>
                <a:ea typeface="TT Hoves Bold"/>
                <a:cs typeface="TT Hoves Bold"/>
                <a:sym typeface="TT Hoves Bold"/>
              </a:rPr>
              <a:t>•THIS USE CASE DETECTS SITUATIONS WHERE PLAYERS ARE PRESSURED BY TEAMMATES OR GROUPS.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FBF9F5"/>
                </a:solidFill>
                <a:latin typeface="TT Hoves Bold"/>
                <a:ea typeface="TT Hoves Bold"/>
                <a:cs typeface="TT Hoves Bold"/>
                <a:sym typeface="TT Hoves Bold"/>
              </a:rPr>
              <a:t>•EXAMPLES INCLUDE BEING FORCED TO STAY ONLINE, GUILT-TRIPPED, OR COMPELLED TO KEEP PLAYING.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FBF9F5"/>
                </a:solidFill>
                <a:latin typeface="TT Hoves Bold"/>
                <a:ea typeface="TT Hoves Bold"/>
                <a:cs typeface="TT Hoves Bold"/>
                <a:sym typeface="TT Hoves Bold"/>
              </a:rPr>
              <a:t>•THE MODEL IDENTIFIES PRESSURE TYPES: DIRECT, GUILT-BASED, TEAM DEPENDENCY, OR COMPETITIVE PRESSURE.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FBF9F5"/>
                </a:solidFill>
                <a:latin typeface="TT Hoves Bold"/>
                <a:ea typeface="TT Hoves Bold"/>
                <a:cs typeface="TT Hoves Bold"/>
                <a:sym typeface="TT Hoves Bold"/>
              </a:rPr>
              <a:t>•REDUCING SOCIAL PRESSURE HELPS PLAYERS AVOID FORCED OVERPLAYING AND STRESS.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endParaRPr lang="en-US" sz="3000" b="1">
              <a:solidFill>
                <a:srgbClr val="FBF9F5"/>
              </a:solidFill>
              <a:latin typeface="TT Hoves Bold"/>
              <a:ea typeface="TT Hoves Bold"/>
              <a:cs typeface="TT Hoves Bold"/>
              <a:sym typeface="TT Hoves 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78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49929"/>
            <a:ext cx="13699546" cy="1384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>
                <a:solidFill>
                  <a:srgbClr val="FBF9F5"/>
                </a:solidFill>
                <a:latin typeface="TT Hoves Bold"/>
                <a:ea typeface="TT Hoves Bold"/>
                <a:cs typeface="TT Hoves Bold"/>
                <a:sym typeface="TT Hoves Bold"/>
              </a:rPr>
              <a:t>USE CASE 5: SUPPORT &amp; TIME-BASED WELL‑BEING INTERVENTIONS</a:t>
            </a:r>
          </a:p>
        </p:txBody>
      </p:sp>
      <p:sp>
        <p:nvSpPr>
          <p:cNvPr id="3" name="Freeform 3"/>
          <p:cNvSpPr/>
          <p:nvPr/>
        </p:nvSpPr>
        <p:spPr>
          <a:xfrm>
            <a:off x="15805229" y="687714"/>
            <a:ext cx="681973" cy="681973"/>
          </a:xfrm>
          <a:custGeom>
            <a:avLst/>
            <a:gdLst/>
            <a:ahLst/>
            <a:cxnLst/>
            <a:rect l="l" t="t" r="r" b="b"/>
            <a:pathLst>
              <a:path w="681973" h="681973">
                <a:moveTo>
                  <a:pt x="0" y="0"/>
                </a:moveTo>
                <a:lnTo>
                  <a:pt x="681973" y="0"/>
                </a:lnTo>
                <a:lnTo>
                  <a:pt x="681973" y="681972"/>
                </a:lnTo>
                <a:lnTo>
                  <a:pt x="0" y="6819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728246" y="-4868262"/>
            <a:ext cx="8338513" cy="8338513"/>
          </a:xfrm>
          <a:custGeom>
            <a:avLst/>
            <a:gdLst/>
            <a:ahLst/>
            <a:cxnLst/>
            <a:rect l="l" t="t" r="r" b="b"/>
            <a:pathLst>
              <a:path w="8338513" h="8338513">
                <a:moveTo>
                  <a:pt x="0" y="0"/>
                </a:moveTo>
                <a:lnTo>
                  <a:pt x="8338513" y="0"/>
                </a:lnTo>
                <a:lnTo>
                  <a:pt x="8338513" y="8338512"/>
                </a:lnTo>
                <a:lnTo>
                  <a:pt x="0" y="83385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5"/>
          <p:cNvSpPr/>
          <p:nvPr/>
        </p:nvSpPr>
        <p:spPr>
          <a:xfrm flipV="1">
            <a:off x="-578214" y="9258300"/>
            <a:ext cx="20429268" cy="9525"/>
          </a:xfrm>
          <a:prstGeom prst="line">
            <a:avLst/>
          </a:prstGeom>
          <a:ln w="19050" cap="flat">
            <a:solidFill>
              <a:srgbClr val="FBF9F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1028700" y="2714625"/>
            <a:ext cx="15000908" cy="4791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FBF9F5"/>
                </a:solidFill>
                <a:latin typeface="TT Hoves Bold"/>
                <a:ea typeface="TT Hoves Bold"/>
                <a:cs typeface="TT Hoves Bold"/>
                <a:sym typeface="TT Hoves Bold"/>
              </a:rPr>
              <a:t>•THIS COMBINES TWO WELL‑BEING MECHANISMS: SUPPORT RECOMMENDATIONS AND TIME-BASED WARNINGS.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FBF9F5"/>
                </a:solidFill>
                <a:latin typeface="TT Hoves Bold"/>
                <a:ea typeface="TT Hoves Bold"/>
                <a:cs typeface="TT Hoves Bold"/>
                <a:sym typeface="TT Hoves Bold"/>
              </a:rPr>
              <a:t>•SUPPORT ENGINE: SUGGESTS BREAKS, REST, OR REMINDERS WHEN PLAYERS EXPRESS FATIGUE OR STRESS.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FBF9F5"/>
                </a:solidFill>
                <a:latin typeface="TT Hoves Bold"/>
                <a:ea typeface="TT Hoves Bold"/>
                <a:cs typeface="TT Hoves Bold"/>
                <a:sym typeface="TT Hoves Bold"/>
              </a:rPr>
              <a:t>•TIME‑ON‑TASK SYSTEM: DETECTS LONG CONTINUOUS SESSIONS AND TRIGGERS WARNINGS.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FBF9F5"/>
                </a:solidFill>
                <a:latin typeface="TT Hoves Bold"/>
                <a:ea typeface="TT Hoves Bold"/>
                <a:cs typeface="TT Hoves Bold"/>
                <a:sym typeface="TT Hoves Bold"/>
              </a:rPr>
              <a:t>•TOGETHER, THESE HELP PREVENT BURNOUT AND PROMOTE RESPONSIBLE PLAY.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endParaRPr lang="en-US" sz="3000" b="1">
              <a:solidFill>
                <a:srgbClr val="FBF9F5"/>
              </a:solidFill>
              <a:latin typeface="TT Hoves Bold"/>
              <a:ea typeface="TT Hoves Bold"/>
              <a:cs typeface="TT Hoves Bold"/>
              <a:sym typeface="TT Hoves 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78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318120" y="3461582"/>
            <a:ext cx="11472911" cy="2550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669"/>
              </a:lnSpc>
            </a:pPr>
            <a:r>
              <a:rPr lang="en-US" sz="22652" spc="-1404">
                <a:solidFill>
                  <a:srgbClr val="FBF9F5"/>
                </a:solidFill>
                <a:latin typeface="Lovelace"/>
                <a:ea typeface="Lovelace"/>
                <a:cs typeface="Lovelace"/>
                <a:sym typeface="Lovelace"/>
              </a:rPr>
              <a:t>THANK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407544" y="6009796"/>
            <a:ext cx="11472911" cy="2608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669"/>
              </a:lnSpc>
            </a:pPr>
            <a:r>
              <a:rPr lang="en-US" sz="22652" i="1" spc="-1404">
                <a:solidFill>
                  <a:srgbClr val="FBF9F5"/>
                </a:solidFill>
                <a:latin typeface="Lovelace Italics"/>
                <a:ea typeface="Lovelace Italics"/>
                <a:cs typeface="Lovelace Italics"/>
                <a:sym typeface="Lovelace Italics"/>
              </a:rPr>
              <a:t>YOU</a:t>
            </a:r>
          </a:p>
        </p:txBody>
      </p:sp>
      <p:sp>
        <p:nvSpPr>
          <p:cNvPr id="4" name="Freeform 4"/>
          <p:cNvSpPr/>
          <p:nvPr/>
        </p:nvSpPr>
        <p:spPr>
          <a:xfrm>
            <a:off x="-3140556" y="7441982"/>
            <a:ext cx="8338513" cy="8338513"/>
          </a:xfrm>
          <a:custGeom>
            <a:avLst/>
            <a:gdLst/>
            <a:ahLst/>
            <a:cxnLst/>
            <a:rect l="l" t="t" r="r" b="b"/>
            <a:pathLst>
              <a:path w="8338513" h="8338513">
                <a:moveTo>
                  <a:pt x="0" y="0"/>
                </a:moveTo>
                <a:lnTo>
                  <a:pt x="8338512" y="0"/>
                </a:lnTo>
                <a:lnTo>
                  <a:pt x="8338512" y="8338513"/>
                </a:lnTo>
                <a:lnTo>
                  <a:pt x="0" y="83385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118744" y="-4807211"/>
            <a:ext cx="8338513" cy="8338513"/>
          </a:xfrm>
          <a:custGeom>
            <a:avLst/>
            <a:gdLst/>
            <a:ahLst/>
            <a:cxnLst/>
            <a:rect l="l" t="t" r="r" b="b"/>
            <a:pathLst>
              <a:path w="8338513" h="8338513">
                <a:moveTo>
                  <a:pt x="0" y="0"/>
                </a:moveTo>
                <a:lnTo>
                  <a:pt x="8338512" y="0"/>
                </a:lnTo>
                <a:lnTo>
                  <a:pt x="8338512" y="8338513"/>
                </a:lnTo>
                <a:lnTo>
                  <a:pt x="0" y="83385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500299" y="6011953"/>
            <a:ext cx="1287402" cy="1287402"/>
          </a:xfrm>
          <a:custGeom>
            <a:avLst/>
            <a:gdLst/>
            <a:ahLst/>
            <a:cxnLst/>
            <a:rect l="l" t="t" r="r" b="b"/>
            <a:pathLst>
              <a:path w="1287402" h="1287402">
                <a:moveTo>
                  <a:pt x="0" y="0"/>
                </a:moveTo>
                <a:lnTo>
                  <a:pt x="1287402" y="0"/>
                </a:lnTo>
                <a:lnTo>
                  <a:pt x="1287402" y="1287402"/>
                </a:lnTo>
                <a:lnTo>
                  <a:pt x="0" y="12874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1121932" y="5281857"/>
            <a:ext cx="7166068" cy="7113951"/>
          </a:xfrm>
          <a:custGeom>
            <a:avLst/>
            <a:gdLst/>
            <a:ahLst/>
            <a:cxnLst/>
            <a:rect l="l" t="t" r="r" b="b"/>
            <a:pathLst>
              <a:path w="7166068" h="7113951">
                <a:moveTo>
                  <a:pt x="0" y="0"/>
                </a:moveTo>
                <a:lnTo>
                  <a:pt x="7166068" y="0"/>
                </a:lnTo>
                <a:lnTo>
                  <a:pt x="7166068" y="7113951"/>
                </a:lnTo>
                <a:lnTo>
                  <a:pt x="0" y="71139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659118" y="5281857"/>
            <a:ext cx="1496853" cy="1919043"/>
          </a:xfrm>
          <a:custGeom>
            <a:avLst/>
            <a:gdLst/>
            <a:ahLst/>
            <a:cxnLst/>
            <a:rect l="l" t="t" r="r" b="b"/>
            <a:pathLst>
              <a:path w="1496853" h="1919043">
                <a:moveTo>
                  <a:pt x="0" y="0"/>
                </a:moveTo>
                <a:lnTo>
                  <a:pt x="1496853" y="0"/>
                </a:lnTo>
                <a:lnTo>
                  <a:pt x="1496853" y="1919043"/>
                </a:lnTo>
                <a:lnTo>
                  <a:pt x="0" y="191904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028700" y="959454"/>
            <a:ext cx="4578840" cy="605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77"/>
              </a:lnSpc>
            </a:pPr>
            <a:r>
              <a:rPr lang="en-US" sz="3555" b="1">
                <a:solidFill>
                  <a:srgbClr val="FBF9F5"/>
                </a:solidFill>
                <a:latin typeface="TT Hoves Bold"/>
                <a:ea typeface="TT Hoves Bold"/>
                <a:cs typeface="TT Hoves Bold"/>
                <a:sym typeface="TT Hoves Bold"/>
              </a:rPr>
              <a:t>SALFORD &amp; CO.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395</Words>
  <Application>Microsoft Office PowerPoint</Application>
  <PresentationFormat>Custom</PresentationFormat>
  <Paragraphs>33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Calibri</vt:lpstr>
      <vt:lpstr>Arial</vt:lpstr>
      <vt:lpstr>TT Hoves</vt:lpstr>
      <vt:lpstr>Lovelace Italics</vt:lpstr>
      <vt:lpstr>TT Hoves Bold</vt:lpstr>
      <vt:lpstr>Lovelace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Your paragraph text</dc:title>
  <cp:lastModifiedBy>Harish Nayak</cp:lastModifiedBy>
  <cp:revision>1</cp:revision>
  <dcterms:created xsi:type="dcterms:W3CDTF">2006-08-16T00:00:00Z</dcterms:created>
  <dcterms:modified xsi:type="dcterms:W3CDTF">2025-11-13T20:09:44Z</dcterms:modified>
  <dc:identifier>DAG4mpDXPEI</dc:identifier>
</cp:coreProperties>
</file>